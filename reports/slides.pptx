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Nunito"/>
      <p:regular r:id="rId18"/>
      <p:bold r:id="rId19"/>
      <p:italic r:id="rId20"/>
      <p:boldItalic r:id="rId21"/>
    </p:embeddedFont>
    <p:embeddedFont>
      <p:font typeface="Maven Pro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EFF20D-3437-4824-9CA6-935CBF2B48BC}">
  <a:tblStyle styleId="{2DEFF20D-3437-4824-9CA6-935CBF2B48B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italic.fntdata"/><Relationship Id="rId11" Type="http://schemas.openxmlformats.org/officeDocument/2006/relationships/slide" Target="slides/slide5.xml"/><Relationship Id="rId22" Type="http://schemas.openxmlformats.org/officeDocument/2006/relationships/font" Target="fonts/MavenPro-regular.fntdata"/><Relationship Id="rId10" Type="http://schemas.openxmlformats.org/officeDocument/2006/relationships/slide" Target="slides/slide4.xml"/><Relationship Id="rId21" Type="http://schemas.openxmlformats.org/officeDocument/2006/relationships/font" Target="fonts/Nuni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MavenPr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Nuni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Nuni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fe339b92d_1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fe339b92d_1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fe339b9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5fe339b9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5fe339b92d_1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5fe339b92d_1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fe339b92d_1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5fe339b92d_1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5fe339b92d_1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5fe339b92d_1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5fe339b92d_1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5fe339b92d_1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5fe339b92d_1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5fe339b92d_1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5fe339b92d_1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5fe339b92d_1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5fe339b92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5fe339b92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5fe339b92d_1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5fe339b92d_1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Índice</a:t>
            </a:r>
            <a:r>
              <a:rPr lang="es"/>
              <a:t> de precios de la vivienda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Ivan Betriu Kahlenberg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Marc Fort Garcia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Fuente: INE (Instituto Nacional de Estadística)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¿Qué es el IPV? (Índice de precios de vivienda)</a:t>
            </a:r>
            <a:endParaRPr/>
          </a:p>
        </p:txBody>
      </p:sp>
      <p:pic>
        <p:nvPicPr>
          <p:cNvPr id="285" name="Google Shape;28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0175" y="3268546"/>
            <a:ext cx="3319250" cy="132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Datos</a:t>
            </a:r>
            <a:endParaRPr/>
          </a:p>
        </p:txBody>
      </p:sp>
      <p:sp>
        <p:nvSpPr>
          <p:cNvPr id="291" name="Google Shape;291;p15"/>
          <p:cNvSpPr txBox="1"/>
          <p:nvPr>
            <p:ph idx="1" type="body"/>
          </p:nvPr>
        </p:nvSpPr>
        <p:spPr>
          <a:xfrm>
            <a:off x="1303800" y="1990050"/>
            <a:ext cx="36129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IPV de la vivienda nueva en Cataluña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Datos trimestrales (frecuencia 12)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2007-2024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72 observaciones</a:t>
            </a:r>
            <a:endParaRPr/>
          </a:p>
        </p:txBody>
      </p:sp>
      <p:pic>
        <p:nvPicPr>
          <p:cNvPr id="292" name="Google Shape;29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4000" y="0"/>
            <a:ext cx="2055300" cy="171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2313" y="1731400"/>
            <a:ext cx="2318667" cy="171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1263" y="3428100"/>
            <a:ext cx="1920765" cy="171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Exploración de los datos</a:t>
            </a:r>
            <a:endParaRPr/>
          </a:p>
        </p:txBody>
      </p:sp>
      <p:pic>
        <p:nvPicPr>
          <p:cNvPr id="300" name="Google Shape;3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0475" y="1540363"/>
            <a:ext cx="3321151" cy="325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Alisado lineal de Holt</a:t>
            </a:r>
            <a:endParaRPr/>
          </a:p>
        </p:txBody>
      </p:sp>
      <p:sp>
        <p:nvSpPr>
          <p:cNvPr id="306" name="Google Shape;306;p1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7"/>
          <p:cNvSpPr txBox="1"/>
          <p:nvPr/>
        </p:nvSpPr>
        <p:spPr>
          <a:xfrm>
            <a:off x="5391900" y="2668200"/>
            <a:ext cx="26010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RMSE</a:t>
            </a:r>
            <a: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16.275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MAE</a:t>
            </a:r>
            <a: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14.077</a:t>
            </a:r>
            <a:b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</a:br>
            <a:b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MSE</a:t>
            </a:r>
            <a: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264.889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8" name="Google Shape;30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2550" y="1652225"/>
            <a:ext cx="3429450" cy="334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ARIMA (0,2,1)</a:t>
            </a:r>
            <a:endParaRPr/>
          </a:p>
        </p:txBody>
      </p:sp>
      <p:pic>
        <p:nvPicPr>
          <p:cNvPr id="314" name="Google Shape;3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925" y="1407550"/>
            <a:ext cx="3432575" cy="333832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8"/>
          <p:cNvSpPr txBox="1"/>
          <p:nvPr/>
        </p:nvSpPr>
        <p:spPr>
          <a:xfrm>
            <a:off x="5625975" y="1979100"/>
            <a:ext cx="26010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RMSE</a:t>
            </a:r>
            <a: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12.2359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MAE</a:t>
            </a:r>
            <a: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10.0250</a:t>
            </a:r>
            <a:b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</a:br>
            <a:b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MSE</a:t>
            </a:r>
            <a: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149.7190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ETS</a:t>
            </a:r>
            <a:endParaRPr/>
          </a:p>
        </p:txBody>
      </p:sp>
      <p:pic>
        <p:nvPicPr>
          <p:cNvPr id="321" name="Google Shape;3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8825" y="1398125"/>
            <a:ext cx="3409950" cy="33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9"/>
          <p:cNvSpPr txBox="1"/>
          <p:nvPr/>
        </p:nvSpPr>
        <p:spPr>
          <a:xfrm>
            <a:off x="5608675" y="1979100"/>
            <a:ext cx="26010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RMSE</a:t>
            </a:r>
            <a: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14.6873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MAE</a:t>
            </a:r>
            <a: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12.1933</a:t>
            </a:r>
            <a:b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</a:br>
            <a:b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MSE</a:t>
            </a:r>
            <a: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215.7172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XGBoost</a:t>
            </a:r>
            <a:endParaRPr/>
          </a:p>
        </p:txBody>
      </p:sp>
      <p:pic>
        <p:nvPicPr>
          <p:cNvPr id="328" name="Google Shape;3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4250" y="1364300"/>
            <a:ext cx="3393975" cy="338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0"/>
          <p:cNvSpPr txBox="1"/>
          <p:nvPr/>
        </p:nvSpPr>
        <p:spPr>
          <a:xfrm>
            <a:off x="5608675" y="1979100"/>
            <a:ext cx="26010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RMSE</a:t>
            </a:r>
            <a: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44.4124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MAE</a:t>
            </a:r>
            <a: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41.3447</a:t>
            </a:r>
            <a:b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</a:br>
            <a:b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MSE</a:t>
            </a:r>
            <a: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es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1972.4642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Resultados</a:t>
            </a:r>
            <a:endParaRPr/>
          </a:p>
        </p:txBody>
      </p:sp>
      <p:graphicFrame>
        <p:nvGraphicFramePr>
          <p:cNvPr id="335" name="Google Shape;335;p21"/>
          <p:cNvGraphicFramePr/>
          <p:nvPr/>
        </p:nvGraphicFramePr>
        <p:xfrm>
          <a:off x="1303800" y="177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{2DEFF20D-3437-4824-9CA6-935CBF2B48BC}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HOLT LINEAL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ARIMA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XGBOOST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RMSE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14.6873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12.2359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14.6873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44.4124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MAE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12.1933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10.0250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12.1933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41.3447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215.7172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149.7190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215.7172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1972.4642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Conclusiones</a:t>
            </a:r>
            <a:endParaRPr/>
          </a:p>
        </p:txBody>
      </p:sp>
      <p:sp>
        <p:nvSpPr>
          <p:cNvPr id="341" name="Google Shape;341;p22"/>
          <p:cNvSpPr txBox="1"/>
          <p:nvPr>
            <p:ph idx="1" type="body"/>
          </p:nvPr>
        </p:nvSpPr>
        <p:spPr>
          <a:xfrm>
            <a:off x="1303800" y="1990050"/>
            <a:ext cx="7030500" cy="19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Buenas predicciones por los métodos “tradicionales”</a:t>
            </a:r>
            <a:br>
              <a:rPr lang="es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Peor performance por parte de XGBoost (posible optimización)</a:t>
            </a:r>
            <a:br>
              <a:rPr lang="es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Aplicable al use case</a:t>
            </a:r>
            <a:br>
              <a:rPr lang="es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Los métodos tradicionales aportan mejor rendimiento y menor coste computacional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3"/>
          <p:cNvSpPr txBox="1"/>
          <p:nvPr>
            <p:ph type="title"/>
          </p:nvPr>
        </p:nvSpPr>
        <p:spPr>
          <a:xfrm>
            <a:off x="1056750" y="20721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Muchas gracias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